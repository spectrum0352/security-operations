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74" r:id="rId5"/>
    <p:sldId id="270" r:id="rId6"/>
    <p:sldId id="271" r:id="rId7"/>
    <p:sldId id="272" r:id="rId8"/>
    <p:sldId id="273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2FF163-B6FB-4D23-824C-D4CBFE363E35}">
          <p14:sldIdLst>
            <p14:sldId id="256"/>
            <p14:sldId id="269"/>
          </p14:sldIdLst>
        </p14:section>
        <p14:section name="3-tier architecture" id="{C371DB69-0433-46FA-8932-06365CA7F358}">
          <p14:sldIdLst>
            <p14:sldId id="257"/>
            <p14:sldId id="274"/>
            <p14:sldId id="270"/>
            <p14:sldId id="271"/>
            <p14:sldId id="272"/>
            <p14:sldId id="273"/>
          </p14:sldIdLst>
        </p14:section>
        <p14:section name="Single page application" id="{557DF319-1E5E-4283-ACE1-31A70F8825DF}">
          <p14:sldIdLst>
            <p14:sldId id="258"/>
          </p14:sldIdLst>
        </p14:section>
        <p14:section name="Micro-services architecture" id="{E5F7DAEF-D2BC-4F23-9BE3-F679758F9895}">
          <p14:sldIdLst>
            <p14:sldId id="259"/>
          </p14:sldIdLst>
        </p14:section>
        <p14:section name="Serverless Webapp" id="{FCFCEFEB-C59B-4890-909D-48C27EA57F5C}">
          <p14:sldIdLst>
            <p14:sldId id="260"/>
          </p14:sldIdLst>
        </p14:section>
        <p14:section name="Monolithic Application" id="{72C3EC8C-6A4B-4C0B-8DF9-04EC703FB652}">
          <p14:sldIdLst>
            <p14:sldId id="261"/>
          </p14:sldIdLst>
        </p14:section>
        <p14:section name="Event-Driven Web Application" id="{4246E530-7D9C-44F2-8A3B-833ED8C97C5D}">
          <p14:sldIdLst>
            <p14:sldId id="262"/>
          </p14:sldIdLst>
        </p14:section>
        <p14:section name="DevSecOps CI/CD" id="{7E9F0CD6-9470-4CAA-B8BC-FC01581A72CE}">
          <p14:sldIdLst>
            <p14:sldId id="263"/>
          </p14:sldIdLst>
        </p14:section>
        <p14:section name="Multi-Region Global" id="{5C88BF7E-6ABA-484E-A733-A34571BC79F6}">
          <p14:sldIdLst>
            <p14:sldId id="264"/>
          </p14:sldIdLst>
        </p14:section>
        <p14:section name="B2B Enterprise API Workflow" id="{AAFF3598-A79B-48C7-86B3-8398B1AEC63A}">
          <p14:sldIdLst>
            <p14:sldId id="265"/>
          </p14:sldIdLst>
        </p14:section>
        <p14:section name="Zero Trust Web Application Workflow" id="{A58574C3-9095-436A-ADF0-BEC7D12DFFA5}">
          <p14:sldIdLst>
            <p14:sldId id="266"/>
          </p14:sldIdLst>
        </p14:section>
        <p14:section name="Hybrid Cloud Workflow" id="{206974A0-0FB6-4C52-BC3A-29F814119107}">
          <p14:sldIdLst>
            <p14:sldId id="267"/>
          </p14:sldIdLst>
        </p14:section>
        <p14:section name="Data-Intensive Analytics Workflow" id="{BF1924DA-6CEA-41B3-B64A-22DABC7A97D8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4660"/>
  </p:normalViewPr>
  <p:slideViewPr>
    <p:cSldViewPr snapToGrid="0">
      <p:cViewPr varScale="1">
        <p:scale>
          <a:sx n="62" d="100"/>
          <a:sy n="62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5717-1019-2A6A-0F83-F6DCEDF75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8259FF-9F2D-024A-0658-BB3E30DC2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1957E-4991-6E3C-B340-360AAE41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75233-36F2-6875-33E7-83BDF110A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6385B-2F16-1C38-BD37-9608432C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935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86B7-4A4E-FD20-4F60-4ED766F63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EB379-C316-8B21-B859-BA5CD75DE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3BFF5-A461-C2A7-2D0E-DC16DD9FB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D7C39-2FFA-77B1-737D-48EEE7E8F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4A56C-B296-CF96-D74A-25986BFE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16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651F-5F82-7ECB-295C-1D22ECF9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31BC5-8BCB-63E0-212A-A8EB9BE53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91986-FFFD-6CCC-D56C-85FF2E007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80FB8-3F39-DE2C-D007-0B45676A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C98D3-7488-2295-CA0C-7DE18178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849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97BFA-5400-FD51-A939-4784FB2F1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A4EB9-0338-D667-EEF5-3D5A1358B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D1864-EB9B-0C3A-407C-774FFBE1B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7A6C5-C86C-E979-B75A-3EC8EB947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6F86F-9EB5-F2AF-68CD-A554A425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B4A8E-13F0-30C8-B0D0-D251E2C6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927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A3EB-2215-BC37-0686-1B8F62FF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B6208-BC2B-7C48-2E81-86AB46E0A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4F56B-2054-9B06-EE31-6705197A7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551F0-03EA-613E-BAD1-3A650899A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E9F872-3317-5CD9-4FC8-1538809FE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559287-FA75-257C-B1C7-BF77CFAA5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110E04-29E3-A7F8-6C79-8E4190D4B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950C5-1250-C864-FD05-667CDFF7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91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7954E-6FE2-CBCC-6539-9B86661B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4FF97-E577-213F-A104-7EF35B664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828DAF-D6FE-BA18-3617-13378B8C4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39D2C-27BE-2274-4BE1-23A71697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77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7F0E3C-531B-C2C4-632B-0E52BB60E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56260-C65D-50DE-B219-3FE64C67D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E83A2-134E-51D5-7BDE-40E30501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76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B576-E207-A55F-5977-131541B6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32343-5CDD-E9C8-0094-B9747379E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DD739-EC47-96EA-ABD0-C1646E6FD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D7266-E7B8-4B72-E6F7-2A65607E5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C216E-FDD4-63AB-EB9E-759FA9072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5A6FA-7ED4-B62B-6C56-ABE917737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69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D081F-7576-6A53-49DF-F951CD759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67C71-0585-E80C-6B7C-FB966F32F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AD5B0-43D5-E2B6-BB08-776B8CBD6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1C555-3A76-3434-E939-CD9A25C32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E4BDF-8122-BF2A-A511-B226D135B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94570-7889-BBF6-252A-3387C27F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53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78DF2-673E-64B9-0128-507F0B1B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91409-8AC5-5836-8ED2-4621180AA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71DFB-41C9-EE5A-D9C5-7145C18C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E342C-BA32-6AA2-49BC-8D2CE5480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0F372-1FA6-B131-E53C-FF257D43F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260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F8E44F-F6E1-DB69-A7D3-F69D3402B6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552E4-5EDA-21E4-8EC5-9D9A7E6C9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A3CD8-6D3C-C6EA-0C66-C76BD6FA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8F23C-1310-4AE9-8A88-B97D8912F5F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05CF6-813E-1DDF-1C06-1096FB45D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72386-28A9-A9B9-2594-9A2B7B17C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052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43517-2E24-071C-FE9D-CFF8D8063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D8644-7B21-4090-EA4C-27090DC97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A7987-E5FE-0A74-E34B-9F6BCB0CD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8F23C-1310-4AE9-8A88-B97D8912F5F8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5A1AE-3428-B6D1-D7E6-0BDA745E1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96431-1489-E0EA-8705-857C07C20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9069C-F76C-4E05-9370-F145EE712B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2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B9DD6-B3AD-C9A0-66D4-ABA64B76AA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Security Operations Center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53BB6-785F-8153-624F-9863DEEEC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Apps</a:t>
            </a:r>
          </a:p>
        </p:txBody>
      </p:sp>
    </p:spTree>
    <p:extLst>
      <p:ext uri="{BB962C8B-B14F-4D97-AF65-F5344CB8AC3E}">
        <p14:creationId xmlns:p14="http://schemas.microsoft.com/office/powerpoint/2010/main" val="527126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E7390-2AE7-2BA0-085E-04FA83477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5F127-B9B1-B119-AA26-C5D50E19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Types of enterprise webapp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B250-C2AC-6303-60DB-38BA81D85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4" y="993417"/>
            <a:ext cx="11655177" cy="568439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Traditional 3-Tier Architecture (Multi-Tier)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Single Page Application (SPA)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Microservices Architecture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Serverless Web Application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Monolithic Application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Event-Driven Web Application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DevSecOps CI/CD Workflow (Enterprise)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Multi-Region Global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B2B Enterprise API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Zero Trust Web Application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Hybrid Cloud Workflow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IN" sz="2400" dirty="0">
                <a:latin typeface="Yu Gothic" panose="020B0400000000000000" pitchFamily="34" charset="-128"/>
                <a:ea typeface="Yu Gothic" panose="020B0400000000000000" pitchFamily="34" charset="-128"/>
              </a:rPr>
              <a:t>Data-Intensive Analytics Workflow</a:t>
            </a:r>
          </a:p>
        </p:txBody>
      </p:sp>
    </p:spTree>
    <p:extLst>
      <p:ext uri="{BB962C8B-B14F-4D97-AF65-F5344CB8AC3E}">
        <p14:creationId xmlns:p14="http://schemas.microsoft.com/office/powerpoint/2010/main" val="530651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09E95-58AE-D562-397C-CDF2B756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6" y="180191"/>
            <a:ext cx="7042080" cy="600645"/>
          </a:xfrm>
        </p:spPr>
        <p:txBody>
          <a:bodyPr>
            <a:noAutofit/>
          </a:bodyPr>
          <a:lstStyle/>
          <a:p>
            <a:r>
              <a:rPr lang="en-IN" sz="3200" dirty="0"/>
              <a:t>Traditional 3-Tier Architecture (Multi-Tier)</a:t>
            </a:r>
          </a:p>
        </p:txBody>
      </p:sp>
      <p:pic>
        <p:nvPicPr>
          <p:cNvPr id="6" name="Graphic 5" descr="Internet">
            <a:extLst>
              <a:ext uri="{FF2B5EF4-FFF2-40B4-BE49-F238E27FC236}">
                <a16:creationId xmlns:a16="http://schemas.microsoft.com/office/drawing/2014/main" id="{B45AE7D4-3F7B-19A5-7AC2-D6E034469C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9529" y="1149216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71253-965C-5154-E418-B8805E6A07B3}"/>
              </a:ext>
            </a:extLst>
          </p:cNvPr>
          <p:cNvSpPr txBox="1"/>
          <p:nvPr/>
        </p:nvSpPr>
        <p:spPr>
          <a:xfrm>
            <a:off x="934129" y="2583446"/>
            <a:ext cx="1382699" cy="340519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Web server</a:t>
            </a:r>
          </a:p>
        </p:txBody>
      </p:sp>
      <p:pic>
        <p:nvPicPr>
          <p:cNvPr id="9" name="Graphic 8" descr="Web design">
            <a:extLst>
              <a:ext uri="{FF2B5EF4-FFF2-40B4-BE49-F238E27FC236}">
                <a16:creationId xmlns:a16="http://schemas.microsoft.com/office/drawing/2014/main" id="{51013FBB-31D0-887B-E962-FDB81E3EF3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529" y="2583446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304569-6C9D-FDFA-28E0-21149A557FDF}"/>
              </a:ext>
            </a:extLst>
          </p:cNvPr>
          <p:cNvSpPr txBox="1"/>
          <p:nvPr/>
        </p:nvSpPr>
        <p:spPr>
          <a:xfrm>
            <a:off x="938064" y="1264262"/>
            <a:ext cx="1382699" cy="340519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User browser</a:t>
            </a:r>
          </a:p>
        </p:txBody>
      </p:sp>
      <p:pic>
        <p:nvPicPr>
          <p:cNvPr id="12" name="Graphic 11" descr="Database">
            <a:extLst>
              <a:ext uri="{FF2B5EF4-FFF2-40B4-BE49-F238E27FC236}">
                <a16:creationId xmlns:a16="http://schemas.microsoft.com/office/drawing/2014/main" id="{11F3D3EA-3F10-D8C7-5F1C-BBA77E8C73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529" y="5208828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716D86-C374-520F-5CE4-ACF48BA9FBF0}"/>
              </a:ext>
            </a:extLst>
          </p:cNvPr>
          <p:cNvSpPr txBox="1"/>
          <p:nvPr/>
        </p:nvSpPr>
        <p:spPr>
          <a:xfrm>
            <a:off x="934129" y="5169946"/>
            <a:ext cx="1382699" cy="578882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Database server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0EFFC1-B8A0-D891-29F7-B99A0B4F1430}"/>
              </a:ext>
            </a:extLst>
          </p:cNvPr>
          <p:cNvSpPr txBox="1"/>
          <p:nvPr/>
        </p:nvSpPr>
        <p:spPr>
          <a:xfrm>
            <a:off x="934129" y="3792391"/>
            <a:ext cx="1382699" cy="578882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40AE1E-2241-6F1E-20F8-CE8CA1F136E5}"/>
              </a:ext>
            </a:extLst>
          </p:cNvPr>
          <p:cNvSpPr txBox="1"/>
          <p:nvPr/>
        </p:nvSpPr>
        <p:spPr>
          <a:xfrm>
            <a:off x="2474585" y="3792391"/>
            <a:ext cx="1533834" cy="340519"/>
          </a:xfrm>
          <a:prstGeom prst="roundRect">
            <a:avLst/>
          </a:prstGeom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Yu Gothic" panose="020B0400000000000000" pitchFamily="34" charset="-128"/>
                <a:ea typeface="Yu Gothic" panose="020B0400000000000000" pitchFamily="34" charset="-128"/>
              </a:rPr>
              <a:t>Business logic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806CE4-549D-3583-E622-E7B56E11810A}"/>
              </a:ext>
            </a:extLst>
          </p:cNvPr>
          <p:cNvSpPr txBox="1"/>
          <p:nvPr/>
        </p:nvSpPr>
        <p:spPr>
          <a:xfrm>
            <a:off x="2478520" y="1222068"/>
            <a:ext cx="1533834" cy="578882"/>
          </a:xfrm>
          <a:prstGeom prst="roundRect">
            <a:avLst/>
          </a:prstGeom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Yu Gothic" panose="020B0400000000000000" pitchFamily="34" charset="-128"/>
                <a:ea typeface="Yu Gothic" panose="020B0400000000000000" pitchFamily="34" charset="-128"/>
              </a:rPr>
              <a:t>Presentation layer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15ECC5-E1B7-B26A-098A-19E474D74731}"/>
              </a:ext>
            </a:extLst>
          </p:cNvPr>
          <p:cNvSpPr txBox="1"/>
          <p:nvPr/>
        </p:nvSpPr>
        <p:spPr>
          <a:xfrm>
            <a:off x="2474585" y="2512666"/>
            <a:ext cx="1533834" cy="340519"/>
          </a:xfrm>
          <a:prstGeom prst="roundRect">
            <a:avLst/>
          </a:prstGeom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Yu Gothic" panose="020B0400000000000000" pitchFamily="34" charset="-128"/>
                <a:ea typeface="Yu Gothic" panose="020B0400000000000000" pitchFamily="34" charset="-128"/>
              </a:rPr>
              <a:t>Load balancer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3C6851-5156-D0F8-2FA9-EC5CC3E15F94}"/>
              </a:ext>
            </a:extLst>
          </p:cNvPr>
          <p:cNvSpPr txBox="1"/>
          <p:nvPr/>
        </p:nvSpPr>
        <p:spPr>
          <a:xfrm>
            <a:off x="2474585" y="5289127"/>
            <a:ext cx="1533834" cy="340519"/>
          </a:xfrm>
          <a:prstGeom prst="roundRect">
            <a:avLst/>
          </a:prstGeom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Yu Gothic" panose="020B0400000000000000" pitchFamily="34" charset="-128"/>
                <a:ea typeface="Yu Gothic" panose="020B0400000000000000" pitchFamily="34" charset="-128"/>
              </a:rPr>
              <a:t>Data layer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E79316-C231-0926-B07C-2E5516A90599}"/>
              </a:ext>
            </a:extLst>
          </p:cNvPr>
          <p:cNvSpPr txBox="1"/>
          <p:nvPr/>
        </p:nvSpPr>
        <p:spPr>
          <a:xfrm>
            <a:off x="1758168" y="4534963"/>
            <a:ext cx="1117320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accent2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Response back to User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3999868-15CF-EAA9-0BB2-17BA1B50E3DE}"/>
              </a:ext>
            </a:extLst>
          </p:cNvPr>
          <p:cNvCxnSpPr>
            <a:stCxn id="10" idx="2"/>
            <a:endCxn id="7" idx="0"/>
          </p:cNvCxnSpPr>
          <p:nvPr/>
        </p:nvCxnSpPr>
        <p:spPr>
          <a:xfrm flipH="1">
            <a:off x="1625479" y="1604781"/>
            <a:ext cx="3935" cy="978665"/>
          </a:xfrm>
          <a:prstGeom prst="straightConnector1">
            <a:avLst/>
          </a:prstGeom>
          <a:ln w="28575">
            <a:solidFill>
              <a:srgbClr val="00206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2B684FA-ABDD-68D1-C83D-020A37563BA0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>
            <a:off x="1625479" y="2923965"/>
            <a:ext cx="0" cy="868426"/>
          </a:xfrm>
          <a:prstGeom prst="straightConnector1">
            <a:avLst/>
          </a:prstGeom>
          <a:ln w="28575">
            <a:solidFill>
              <a:srgbClr val="00206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ACA0796-8773-C494-3D1A-F493C9FE92E0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1625479" y="4371273"/>
            <a:ext cx="0" cy="798673"/>
          </a:xfrm>
          <a:prstGeom prst="straightConnector1">
            <a:avLst/>
          </a:prstGeom>
          <a:ln w="28575">
            <a:solidFill>
              <a:srgbClr val="002060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3C818D4-CD9D-E3A2-8AC1-C4771333B768}"/>
              </a:ext>
            </a:extLst>
          </p:cNvPr>
          <p:cNvSpPr txBox="1"/>
          <p:nvPr/>
        </p:nvSpPr>
        <p:spPr>
          <a:xfrm>
            <a:off x="7397941" y="886274"/>
            <a:ext cx="2796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Level-0: </a:t>
            </a:r>
          </a:p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High-Level Context Flow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031D3B-DDCF-716C-8EFE-EFEA8078D85C}"/>
              </a:ext>
            </a:extLst>
          </p:cNvPr>
          <p:cNvSpPr txBox="1"/>
          <p:nvPr/>
        </p:nvSpPr>
        <p:spPr>
          <a:xfrm>
            <a:off x="8206516" y="3270106"/>
            <a:ext cx="1382699" cy="340519"/>
          </a:xfrm>
          <a:prstGeom prst="round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Web server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4739E9-8CAB-8938-4311-4AD943194D3F}"/>
              </a:ext>
            </a:extLst>
          </p:cNvPr>
          <p:cNvSpPr txBox="1"/>
          <p:nvPr/>
        </p:nvSpPr>
        <p:spPr>
          <a:xfrm>
            <a:off x="8210451" y="1950922"/>
            <a:ext cx="1369627" cy="340519"/>
          </a:xfrm>
          <a:prstGeom prst="round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External user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4E1B35-38D2-71D3-C703-D5A6D2007899}"/>
              </a:ext>
            </a:extLst>
          </p:cNvPr>
          <p:cNvSpPr txBox="1"/>
          <p:nvPr/>
        </p:nvSpPr>
        <p:spPr>
          <a:xfrm>
            <a:off x="8206516" y="5856606"/>
            <a:ext cx="1382699" cy="578882"/>
          </a:xfrm>
          <a:prstGeom prst="roundRect">
            <a:avLst/>
          </a:prstGeom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Database server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69FA94C-275B-3D5C-5B58-5AD29FA92D6C}"/>
              </a:ext>
            </a:extLst>
          </p:cNvPr>
          <p:cNvSpPr txBox="1"/>
          <p:nvPr/>
        </p:nvSpPr>
        <p:spPr>
          <a:xfrm>
            <a:off x="8206516" y="4479051"/>
            <a:ext cx="1382699" cy="578882"/>
          </a:xfrm>
          <a:prstGeom prst="roundRect">
            <a:avLst/>
          </a:prstGeom>
          <a:ln w="1905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server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749FDC-2AAC-D249-A94F-1BCC4E06CA82}"/>
              </a:ext>
            </a:extLst>
          </p:cNvPr>
          <p:cNvSpPr txBox="1"/>
          <p:nvPr/>
        </p:nvSpPr>
        <p:spPr>
          <a:xfrm>
            <a:off x="6328083" y="2572536"/>
            <a:ext cx="2234032" cy="476726"/>
          </a:xfrm>
          <a:prstGeom prst="roundRect">
            <a:avLst/>
          </a:prstGeom>
          <a:ln w="1905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5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HTTPS Request</a:t>
            </a:r>
          </a:p>
          <a:p>
            <a:pPr algn="ctr"/>
            <a:r>
              <a:rPr lang="en-IN" sz="1100" dirty="0">
                <a:solidFill>
                  <a:schemeClr val="accent5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(Login/ Transaction/ API Call)</a:t>
            </a:r>
          </a:p>
        </p:txBody>
      </p:sp>
      <p:pic>
        <p:nvPicPr>
          <p:cNvPr id="69" name="Graphic 68" descr="User">
            <a:extLst>
              <a:ext uri="{FF2B5EF4-FFF2-40B4-BE49-F238E27FC236}">
                <a16:creationId xmlns:a16="http://schemas.microsoft.com/office/drawing/2014/main" id="{4EE98AEF-1FE3-0814-BD3C-AF9A3C43FE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1267" y="1368728"/>
            <a:ext cx="540000" cy="5400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6F5A90F9-DB8B-9DAC-90F8-0BD755FA762D}"/>
              </a:ext>
            </a:extLst>
          </p:cNvPr>
          <p:cNvSpPr txBox="1"/>
          <p:nvPr/>
        </p:nvSpPr>
        <p:spPr>
          <a:xfrm>
            <a:off x="6719225" y="3802392"/>
            <a:ext cx="1885247" cy="476726"/>
          </a:xfrm>
          <a:prstGeom prst="roundRect">
            <a:avLst/>
          </a:prstGeom>
          <a:ln w="1905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Forward Request</a:t>
            </a:r>
          </a:p>
          <a:p>
            <a:pPr algn="ctr"/>
            <a:r>
              <a:rPr lang="en-IN" sz="1100" dirty="0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(Internal secure channel)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3BEE75-F10F-A29B-A4FB-443195D984BF}"/>
              </a:ext>
            </a:extLst>
          </p:cNvPr>
          <p:cNvSpPr txBox="1"/>
          <p:nvPr/>
        </p:nvSpPr>
        <p:spPr>
          <a:xfrm>
            <a:off x="6972043" y="5218906"/>
            <a:ext cx="1505139" cy="476726"/>
          </a:xfrm>
          <a:prstGeom prst="roundRect">
            <a:avLst/>
          </a:prstGeom>
          <a:ln w="1905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3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SQL Query/ Stored procedure calls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29EAA73-2301-4B9D-BD74-C3C3F78743FA}"/>
              </a:ext>
            </a:extLst>
          </p:cNvPr>
          <p:cNvCxnSpPr>
            <a:cxnSpLocks/>
          </p:cNvCxnSpPr>
          <p:nvPr/>
        </p:nvCxnSpPr>
        <p:spPr>
          <a:xfrm flipH="1">
            <a:off x="8567332" y="2291441"/>
            <a:ext cx="3935" cy="978665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3B8B184-209E-68B4-99C4-19BA3439B472}"/>
              </a:ext>
            </a:extLst>
          </p:cNvPr>
          <p:cNvCxnSpPr>
            <a:cxnSpLocks/>
          </p:cNvCxnSpPr>
          <p:nvPr/>
        </p:nvCxnSpPr>
        <p:spPr>
          <a:xfrm>
            <a:off x="8567332" y="3610625"/>
            <a:ext cx="11588" cy="86026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BA3511E-F98C-F617-7250-AE2D043A51D5}"/>
              </a:ext>
            </a:extLst>
          </p:cNvPr>
          <p:cNvCxnSpPr>
            <a:cxnSpLocks/>
          </p:cNvCxnSpPr>
          <p:nvPr/>
        </p:nvCxnSpPr>
        <p:spPr>
          <a:xfrm>
            <a:off x="8562115" y="5057933"/>
            <a:ext cx="0" cy="798673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19630DD-D390-6799-A9DB-3F8B65F665A1}"/>
              </a:ext>
            </a:extLst>
          </p:cNvPr>
          <p:cNvCxnSpPr>
            <a:cxnSpLocks/>
          </p:cNvCxnSpPr>
          <p:nvPr/>
        </p:nvCxnSpPr>
        <p:spPr>
          <a:xfrm flipV="1">
            <a:off x="9142467" y="5057933"/>
            <a:ext cx="0" cy="76545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1F1F45B-536D-34FF-7DF1-50D71A659DCA}"/>
              </a:ext>
            </a:extLst>
          </p:cNvPr>
          <p:cNvCxnSpPr>
            <a:cxnSpLocks/>
          </p:cNvCxnSpPr>
          <p:nvPr/>
        </p:nvCxnSpPr>
        <p:spPr>
          <a:xfrm flipH="1" flipV="1">
            <a:off x="9128954" y="3610625"/>
            <a:ext cx="13513" cy="86026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39EDE0F-7855-142C-2C47-4AC5262C8CA9}"/>
              </a:ext>
            </a:extLst>
          </p:cNvPr>
          <p:cNvCxnSpPr>
            <a:cxnSpLocks/>
          </p:cNvCxnSpPr>
          <p:nvPr/>
        </p:nvCxnSpPr>
        <p:spPr>
          <a:xfrm flipV="1">
            <a:off x="9142467" y="2291441"/>
            <a:ext cx="0" cy="978665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A8F61922-5CD6-22DB-C1AB-59FCBB15B8E0}"/>
              </a:ext>
            </a:extLst>
          </p:cNvPr>
          <p:cNvSpPr txBox="1"/>
          <p:nvPr/>
        </p:nvSpPr>
        <p:spPr>
          <a:xfrm>
            <a:off x="9137770" y="5375205"/>
            <a:ext cx="10214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chemeClr val="accent2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Query Result</a:t>
            </a:r>
            <a:endParaRPr lang="en-IN" sz="1100" dirty="0">
              <a:solidFill>
                <a:schemeClr val="accent2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F5DB183-C546-27C6-6A3E-FE82234AE4CD}"/>
              </a:ext>
            </a:extLst>
          </p:cNvPr>
          <p:cNvSpPr txBox="1"/>
          <p:nvPr/>
        </p:nvSpPr>
        <p:spPr>
          <a:xfrm>
            <a:off x="9203945" y="3892438"/>
            <a:ext cx="15338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3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Processed Response (HTML/JSON)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48080AA-10BA-2B92-CD4E-BB9D388651B8}"/>
              </a:ext>
            </a:extLst>
          </p:cNvPr>
          <p:cNvSpPr txBox="1"/>
          <p:nvPr/>
        </p:nvSpPr>
        <p:spPr>
          <a:xfrm>
            <a:off x="9254746" y="2674513"/>
            <a:ext cx="1382698" cy="289441"/>
          </a:xfrm>
          <a:prstGeom prst="roundRect">
            <a:avLst/>
          </a:prstGeom>
          <a:ln w="1905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HTTPS Response</a:t>
            </a:r>
          </a:p>
        </p:txBody>
      </p:sp>
    </p:spTree>
    <p:extLst>
      <p:ext uri="{BB962C8B-B14F-4D97-AF65-F5344CB8AC3E}">
        <p14:creationId xmlns:p14="http://schemas.microsoft.com/office/powerpoint/2010/main" val="1321202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37BF2-44D0-9F93-6F6A-AC9E2FA35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Logs Generated at Each Layer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F841FF-A0F6-0F4A-1A67-1BB28DAA02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2010973"/>
              </p:ext>
            </p:extLst>
          </p:nvPr>
        </p:nvGraphicFramePr>
        <p:xfrm>
          <a:off x="509427" y="1722120"/>
          <a:ext cx="5398213" cy="1706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0339">
                  <a:extLst>
                    <a:ext uri="{9D8B030D-6E8A-4147-A177-3AD203B41FA5}">
                      <a16:colId xmlns:a16="http://schemas.microsoft.com/office/drawing/2014/main" val="2549895987"/>
                    </a:ext>
                  </a:extLst>
                </a:gridCol>
                <a:gridCol w="3667874">
                  <a:extLst>
                    <a:ext uri="{9D8B030D-6E8A-4147-A177-3AD203B41FA5}">
                      <a16:colId xmlns:a16="http://schemas.microsoft.com/office/drawing/2014/main" val="4045994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Layer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Logs Produced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2417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WAF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Blocked requests, attack signatures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3041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Load Balancer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Access logs, connection logs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107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Web Server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HTTP access logs, error logs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9737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Application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Auth logs, business events, exceptions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5132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Database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Query logs, failed logins, privilege changes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3544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OS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System logs, process events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7731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Network</a:t>
                      </a:r>
                      <a:endParaRPr lang="en-IN" sz="14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kern="100" dirty="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IDS/IPS alerts</a:t>
                      </a:r>
                      <a:endParaRPr lang="en-IN" sz="1400" kern="100" dirty="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38395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11C2E0-0FB4-205A-5611-9DF30C22EAA6}"/>
              </a:ext>
            </a:extLst>
          </p:cNvPr>
          <p:cNvSpPr txBox="1"/>
          <p:nvPr/>
        </p:nvSpPr>
        <p:spPr>
          <a:xfrm>
            <a:off x="7191910" y="1325366"/>
            <a:ext cx="433804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2️⃣ Log Collection &amp; Aggregation Workflow</a:t>
            </a:r>
            <a:endParaRPr lang="en-IN" dirty="0"/>
          </a:p>
          <a:p>
            <a:r>
              <a:rPr lang="en-IN" dirty="0"/>
              <a:t>[ WAF Logs ]  \</a:t>
            </a:r>
          </a:p>
          <a:p>
            <a:r>
              <a:rPr lang="en-IN" dirty="0"/>
              <a:t>[ Web Logs ]   \</a:t>
            </a:r>
          </a:p>
          <a:p>
            <a:r>
              <a:rPr lang="en-IN" dirty="0"/>
              <a:t>[ App Logs ]    ---&gt;  [ Log Forwarder / Agent ] </a:t>
            </a:r>
          </a:p>
          <a:p>
            <a:r>
              <a:rPr lang="en-IN" dirty="0"/>
              <a:t>[ DB Logs ]     /               |</a:t>
            </a:r>
          </a:p>
          <a:p>
            <a:r>
              <a:rPr lang="en-IN" dirty="0"/>
              <a:t>[ OS Logs ]    /                v</a:t>
            </a:r>
          </a:p>
          <a:p>
            <a:r>
              <a:rPr lang="en-IN" dirty="0"/>
              <a:t>                                [ Log Aggregator ]</a:t>
            </a:r>
          </a:p>
          <a:p>
            <a:r>
              <a:rPr lang="en-IN" dirty="0"/>
              <a:t>                                       |</a:t>
            </a:r>
          </a:p>
          <a:p>
            <a:r>
              <a:rPr lang="en-IN" dirty="0"/>
              <a:t>                                       v</a:t>
            </a:r>
          </a:p>
          <a:p>
            <a:r>
              <a:rPr lang="en-IN" dirty="0"/>
              <a:t>                                   [ SIEM ]</a:t>
            </a:r>
          </a:p>
          <a:p>
            <a:r>
              <a:rPr lang="en-IN" b="1" dirty="0"/>
              <a:t>Enterprise Tools (Example Categories)</a:t>
            </a:r>
            <a:endParaRPr lang="en-IN" dirty="0"/>
          </a:p>
          <a:p>
            <a:pPr lvl="0"/>
            <a:r>
              <a:rPr lang="en-IN" dirty="0"/>
              <a:t>Log Forwarders (Agent-based collection)</a:t>
            </a:r>
          </a:p>
          <a:p>
            <a:pPr lvl="0"/>
            <a:r>
              <a:rPr lang="en-IN" dirty="0"/>
              <a:t>Central Log Aggregator</a:t>
            </a:r>
          </a:p>
          <a:p>
            <a:pPr lvl="0"/>
            <a:r>
              <a:rPr lang="en-IN" dirty="0"/>
              <a:t>SIEM Platform</a:t>
            </a:r>
          </a:p>
          <a:p>
            <a:pPr lvl="0"/>
            <a:r>
              <a:rPr lang="en-IN" dirty="0"/>
              <a:t>SOAR Automation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6679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C3F52-BF42-9D71-8017-D2972881B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081C8-EFBB-0158-A942-1171E8052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6" y="180191"/>
            <a:ext cx="4474830" cy="600645"/>
          </a:xfrm>
        </p:spPr>
        <p:txBody>
          <a:bodyPr>
            <a:noAutofit/>
          </a:bodyPr>
          <a:lstStyle/>
          <a:p>
            <a:r>
              <a:rPr lang="en-IN" sz="3200" dirty="0"/>
              <a:t>Data flow</a:t>
            </a:r>
          </a:p>
        </p:txBody>
      </p:sp>
      <p:pic>
        <p:nvPicPr>
          <p:cNvPr id="6" name="Graphic 5" descr="Internet">
            <a:extLst>
              <a:ext uri="{FF2B5EF4-FFF2-40B4-BE49-F238E27FC236}">
                <a16:creationId xmlns:a16="http://schemas.microsoft.com/office/drawing/2014/main" id="{FBC23FF6-EB80-2CB3-E943-5D120314ED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3627" y="2089453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raphic 8" descr="Web design">
            <a:extLst>
              <a:ext uri="{FF2B5EF4-FFF2-40B4-BE49-F238E27FC236}">
                <a16:creationId xmlns:a16="http://schemas.microsoft.com/office/drawing/2014/main" id="{20A337B6-2CC7-F16A-D1DD-3AE7CE9FBC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3627" y="3406869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Graphic 11" descr="Database">
            <a:extLst>
              <a:ext uri="{FF2B5EF4-FFF2-40B4-BE49-F238E27FC236}">
                <a16:creationId xmlns:a16="http://schemas.microsoft.com/office/drawing/2014/main" id="{E17E38F0-555A-BD42-A0C0-3F78FFDC2C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6469" y="6133066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D56B45A6-B813-C9A3-28DF-E4367C01ED9E}"/>
              </a:ext>
            </a:extLst>
          </p:cNvPr>
          <p:cNvSpPr txBox="1"/>
          <p:nvPr/>
        </p:nvSpPr>
        <p:spPr>
          <a:xfrm>
            <a:off x="1308694" y="956586"/>
            <a:ext cx="2796648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Level-0: </a:t>
            </a:r>
          </a:p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High-Level Context Flow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B6C284-D662-D448-AC5B-2FC082A73711}"/>
              </a:ext>
            </a:extLst>
          </p:cNvPr>
          <p:cNvSpPr txBox="1"/>
          <p:nvPr/>
        </p:nvSpPr>
        <p:spPr>
          <a:xfrm>
            <a:off x="2155044" y="3526956"/>
            <a:ext cx="1382699" cy="340519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Web server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430EDF-0830-9756-9EFE-FAD9E65223BC}"/>
              </a:ext>
            </a:extLst>
          </p:cNvPr>
          <p:cNvSpPr txBox="1"/>
          <p:nvPr/>
        </p:nvSpPr>
        <p:spPr>
          <a:xfrm>
            <a:off x="2158979" y="2207772"/>
            <a:ext cx="1369627" cy="340519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External user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CCBCBA-2C57-3555-093F-95FFA29A756E}"/>
              </a:ext>
            </a:extLst>
          </p:cNvPr>
          <p:cNvSpPr txBox="1"/>
          <p:nvPr/>
        </p:nvSpPr>
        <p:spPr>
          <a:xfrm>
            <a:off x="2155044" y="6113456"/>
            <a:ext cx="1382699" cy="578882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Database server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CA653C-6F1F-F527-CA3E-1E94485BA347}"/>
              </a:ext>
            </a:extLst>
          </p:cNvPr>
          <p:cNvSpPr txBox="1"/>
          <p:nvPr/>
        </p:nvSpPr>
        <p:spPr>
          <a:xfrm>
            <a:off x="2155044" y="4735901"/>
            <a:ext cx="1382699" cy="578882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server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BB7D77-5025-C01F-7530-436CFAE0740D}"/>
              </a:ext>
            </a:extLst>
          </p:cNvPr>
          <p:cNvSpPr txBox="1"/>
          <p:nvPr/>
        </p:nvSpPr>
        <p:spPr>
          <a:xfrm>
            <a:off x="191678" y="2827041"/>
            <a:ext cx="2234032" cy="476726"/>
          </a:xfrm>
          <a:prstGeom prst="roundRect">
            <a:avLst/>
          </a:prstGeom>
          <a:ln w="19050"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5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HTTPS Request</a:t>
            </a:r>
          </a:p>
          <a:p>
            <a:pPr algn="ctr"/>
            <a:r>
              <a:rPr lang="en-IN" sz="1100" dirty="0">
                <a:solidFill>
                  <a:schemeClr val="accent5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(Login/ Transaction/ API Call)</a:t>
            </a:r>
          </a:p>
        </p:txBody>
      </p:sp>
      <p:pic>
        <p:nvPicPr>
          <p:cNvPr id="69" name="Graphic 68" descr="User">
            <a:extLst>
              <a:ext uri="{FF2B5EF4-FFF2-40B4-BE49-F238E27FC236}">
                <a16:creationId xmlns:a16="http://schemas.microsoft.com/office/drawing/2014/main" id="{8AF34CE4-7D4E-DA1B-43A9-260438966D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19795" y="1625578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9E9EB63F-B613-7897-D9E8-E9E0473EFBEB}"/>
              </a:ext>
            </a:extLst>
          </p:cNvPr>
          <p:cNvSpPr txBox="1"/>
          <p:nvPr/>
        </p:nvSpPr>
        <p:spPr>
          <a:xfrm>
            <a:off x="667753" y="4059242"/>
            <a:ext cx="1885247" cy="476726"/>
          </a:xfrm>
          <a:prstGeom prst="roundRect">
            <a:avLst/>
          </a:prstGeom>
          <a:ln w="19050"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Forward Request</a:t>
            </a:r>
          </a:p>
          <a:p>
            <a:pPr algn="ctr"/>
            <a:r>
              <a:rPr lang="en-IN" sz="1100" dirty="0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(Internal secure channel)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C330D65-D2C7-7D5A-8047-003B5DFF7276}"/>
              </a:ext>
            </a:extLst>
          </p:cNvPr>
          <p:cNvSpPr txBox="1"/>
          <p:nvPr/>
        </p:nvSpPr>
        <p:spPr>
          <a:xfrm>
            <a:off x="920571" y="5475756"/>
            <a:ext cx="1505139" cy="476726"/>
          </a:xfrm>
          <a:prstGeom prst="roundRect">
            <a:avLst/>
          </a:prstGeom>
          <a:ln w="19050"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3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SQL Query/ Stored procedure calls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C7BC12B-8984-7CA8-6809-F2E513A7771F}"/>
              </a:ext>
            </a:extLst>
          </p:cNvPr>
          <p:cNvCxnSpPr>
            <a:cxnSpLocks/>
          </p:cNvCxnSpPr>
          <p:nvPr/>
        </p:nvCxnSpPr>
        <p:spPr>
          <a:xfrm flipH="1">
            <a:off x="2515860" y="2548291"/>
            <a:ext cx="3935" cy="978665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7085834-BC3F-9C40-BEB4-CB01E978766C}"/>
              </a:ext>
            </a:extLst>
          </p:cNvPr>
          <p:cNvCxnSpPr>
            <a:cxnSpLocks/>
          </p:cNvCxnSpPr>
          <p:nvPr/>
        </p:nvCxnSpPr>
        <p:spPr>
          <a:xfrm>
            <a:off x="2515860" y="3867475"/>
            <a:ext cx="11588" cy="86026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5D66A2A-3E7B-D3C4-966E-7A2EFD6CAECC}"/>
              </a:ext>
            </a:extLst>
          </p:cNvPr>
          <p:cNvCxnSpPr>
            <a:cxnSpLocks/>
          </p:cNvCxnSpPr>
          <p:nvPr/>
        </p:nvCxnSpPr>
        <p:spPr>
          <a:xfrm>
            <a:off x="2510643" y="5314783"/>
            <a:ext cx="0" cy="798673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A5AE596-241E-2252-B73E-6AE72FAB637C}"/>
              </a:ext>
            </a:extLst>
          </p:cNvPr>
          <p:cNvCxnSpPr>
            <a:cxnSpLocks/>
          </p:cNvCxnSpPr>
          <p:nvPr/>
        </p:nvCxnSpPr>
        <p:spPr>
          <a:xfrm flipV="1">
            <a:off x="3090995" y="5314783"/>
            <a:ext cx="0" cy="76545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5EA648F-3CD1-9473-F864-397237BE73F7}"/>
              </a:ext>
            </a:extLst>
          </p:cNvPr>
          <p:cNvCxnSpPr>
            <a:cxnSpLocks/>
          </p:cNvCxnSpPr>
          <p:nvPr/>
        </p:nvCxnSpPr>
        <p:spPr>
          <a:xfrm flipH="1" flipV="1">
            <a:off x="3077482" y="3867475"/>
            <a:ext cx="13513" cy="86026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DA1EF78-E281-8DFE-04C8-3F981AF822A5}"/>
              </a:ext>
            </a:extLst>
          </p:cNvPr>
          <p:cNvCxnSpPr>
            <a:cxnSpLocks/>
          </p:cNvCxnSpPr>
          <p:nvPr/>
        </p:nvCxnSpPr>
        <p:spPr>
          <a:xfrm flipV="1">
            <a:off x="3090995" y="2548291"/>
            <a:ext cx="0" cy="978665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C4E20DD-6855-FFC5-6379-9C53D8AF0D97}"/>
              </a:ext>
            </a:extLst>
          </p:cNvPr>
          <p:cNvSpPr txBox="1"/>
          <p:nvPr/>
        </p:nvSpPr>
        <p:spPr>
          <a:xfrm>
            <a:off x="3086298" y="5632055"/>
            <a:ext cx="102143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IN" sz="1100" dirty="0">
                <a:solidFill>
                  <a:schemeClr val="accent2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Query Result</a:t>
            </a:r>
            <a:endParaRPr lang="en-IN" sz="1100" dirty="0">
              <a:solidFill>
                <a:schemeClr val="accent2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578668-30ED-016D-EE8C-80C6ABE2C926}"/>
              </a:ext>
            </a:extLst>
          </p:cNvPr>
          <p:cNvSpPr txBox="1"/>
          <p:nvPr/>
        </p:nvSpPr>
        <p:spPr>
          <a:xfrm>
            <a:off x="3152473" y="4149288"/>
            <a:ext cx="1533833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3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Processed Response (HTML/JSON)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3352FC7-E722-52C1-4D88-49046CD81121}"/>
              </a:ext>
            </a:extLst>
          </p:cNvPr>
          <p:cNvSpPr txBox="1"/>
          <p:nvPr/>
        </p:nvSpPr>
        <p:spPr>
          <a:xfrm>
            <a:off x="3203274" y="2931363"/>
            <a:ext cx="1382698" cy="289441"/>
          </a:xfrm>
          <a:prstGeom prst="roundRect">
            <a:avLst/>
          </a:prstGeom>
          <a:ln w="19050">
            <a:noFill/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100" dirty="0">
                <a:solidFill>
                  <a:schemeClr val="accent4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HTTPS Response</a:t>
            </a:r>
          </a:p>
        </p:txBody>
      </p:sp>
      <p:pic>
        <p:nvPicPr>
          <p:cNvPr id="3" name="Graphic 2" descr="User">
            <a:extLst>
              <a:ext uri="{FF2B5EF4-FFF2-40B4-BE49-F238E27FC236}">
                <a16:creationId xmlns:a16="http://schemas.microsoft.com/office/drawing/2014/main" id="{737D381C-B745-E014-8D76-812834A00E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9473" y="9673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Graphic 3" descr="Internet">
            <a:extLst>
              <a:ext uri="{FF2B5EF4-FFF2-40B4-BE49-F238E27FC236}">
                <a16:creationId xmlns:a16="http://schemas.microsoft.com/office/drawing/2014/main" id="{7EED6724-C7D5-0707-BE77-D0588DCA3C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9473" y="1045458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5595417-2A43-9B07-DEEE-4DEC017FC965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6179473" y="549673"/>
            <a:ext cx="0" cy="4957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F633416-39D9-6647-91FA-0A4E03B224C0}"/>
              </a:ext>
            </a:extLst>
          </p:cNvPr>
          <p:cNvSpPr txBox="1"/>
          <p:nvPr/>
        </p:nvSpPr>
        <p:spPr>
          <a:xfrm>
            <a:off x="6608179" y="1045458"/>
            <a:ext cx="2105063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HTTPS Request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URL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Headers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Cookies &amp; Session 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Form Data / JSON Payload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098C45-EA54-2782-CF3E-EC8E00C7D0DA}"/>
              </a:ext>
            </a:extLst>
          </p:cNvPr>
          <p:cNvCxnSpPr>
            <a:cxnSpLocks/>
            <a:stCxn id="4" idx="2"/>
            <a:endCxn id="25" idx="0"/>
          </p:cNvCxnSpPr>
          <p:nvPr/>
        </p:nvCxnSpPr>
        <p:spPr>
          <a:xfrm>
            <a:off x="6179473" y="1585458"/>
            <a:ext cx="2" cy="4313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7DBB61E0-CFE9-206F-0EA3-F3B31BD3EF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5909478" y="2016795"/>
            <a:ext cx="539995" cy="53999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9C80DD-4CF0-1DAC-525F-AB4E705A5B93}"/>
              </a:ext>
            </a:extLst>
          </p:cNvPr>
          <p:cNvSpPr txBox="1"/>
          <p:nvPr/>
        </p:nvSpPr>
        <p:spPr>
          <a:xfrm>
            <a:off x="6618805" y="2053746"/>
            <a:ext cx="11993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Firewall / WAF</a:t>
            </a: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C8EE4DD-9B86-3DDC-71D8-EE333C6D55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692" y="2849996"/>
            <a:ext cx="540000" cy="540000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3D299D-0E4F-7C97-4F02-0773303EE11F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6179475" y="2556790"/>
            <a:ext cx="17217" cy="2932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0AC637D-3015-A3D0-7CF0-026CCE030F2E}"/>
              </a:ext>
            </a:extLst>
          </p:cNvPr>
          <p:cNvSpPr txBox="1"/>
          <p:nvPr/>
        </p:nvSpPr>
        <p:spPr>
          <a:xfrm>
            <a:off x="6618805" y="2989445"/>
            <a:ext cx="226696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Load Balancer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Session Persistence (if stateful)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Health Check Validation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4465012-AADF-FEDF-5BC0-223C8BA3F2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692" y="3821328"/>
            <a:ext cx="540000" cy="540000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531FB14-8BEA-2C32-DA7D-72AD3711BA2F}"/>
              </a:ext>
            </a:extLst>
          </p:cNvPr>
          <p:cNvCxnSpPr>
            <a:cxnSpLocks/>
            <a:stCxn id="31" idx="2"/>
            <a:endCxn id="39" idx="0"/>
          </p:cNvCxnSpPr>
          <p:nvPr/>
        </p:nvCxnSpPr>
        <p:spPr>
          <a:xfrm>
            <a:off x="6196692" y="3389996"/>
            <a:ext cx="0" cy="4313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FAF10F5-A5CA-607B-668F-7370EB92F581}"/>
              </a:ext>
            </a:extLst>
          </p:cNvPr>
          <p:cNvSpPr txBox="1"/>
          <p:nvPr/>
        </p:nvSpPr>
        <p:spPr>
          <a:xfrm>
            <a:off x="6658861" y="3821328"/>
            <a:ext cx="24272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Web server (</a:t>
            </a: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Nginx / Apache / IIS)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F2F7643-C818-1371-7893-4ABEF52BCE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021" y="4742739"/>
            <a:ext cx="540000" cy="540000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4327CCA-EAC3-6FD1-C17D-689D10ECC6AC}"/>
              </a:ext>
            </a:extLst>
          </p:cNvPr>
          <p:cNvCxnSpPr>
            <a:cxnSpLocks/>
            <a:stCxn id="39" idx="2"/>
            <a:endCxn id="49" idx="0"/>
          </p:cNvCxnSpPr>
          <p:nvPr/>
        </p:nvCxnSpPr>
        <p:spPr>
          <a:xfrm>
            <a:off x="6196692" y="4361328"/>
            <a:ext cx="3329" cy="3814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6169CA6-92C8-4A0A-FBE5-F796F5201868}"/>
              </a:ext>
            </a:extLst>
          </p:cNvPr>
          <p:cNvSpPr txBox="1"/>
          <p:nvPr/>
        </p:nvSpPr>
        <p:spPr>
          <a:xfrm>
            <a:off x="6658861" y="4042468"/>
            <a:ext cx="181331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Reverse Proxy Logic,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Static Content Handling, 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Header Sanitization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085220-C2E9-7A4A-086E-4A9013ADC22D}"/>
              </a:ext>
            </a:extLst>
          </p:cNvPr>
          <p:cNvSpPr txBox="1"/>
          <p:nvPr/>
        </p:nvSpPr>
        <p:spPr>
          <a:xfrm>
            <a:off x="6618805" y="4815530"/>
            <a:ext cx="1484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Server </a:t>
            </a:r>
          </a:p>
        </p:txBody>
      </p:sp>
      <p:sp>
        <p:nvSpPr>
          <p:cNvPr id="63" name="Right Brace 62">
            <a:extLst>
              <a:ext uri="{FF2B5EF4-FFF2-40B4-BE49-F238E27FC236}">
                <a16:creationId xmlns:a16="http://schemas.microsoft.com/office/drawing/2014/main" id="{6181ECD1-46EF-A0FC-67C8-D7C2BF24078F}"/>
              </a:ext>
            </a:extLst>
          </p:cNvPr>
          <p:cNvSpPr/>
          <p:nvPr/>
        </p:nvSpPr>
        <p:spPr>
          <a:xfrm>
            <a:off x="8885772" y="2315356"/>
            <a:ext cx="296085" cy="2608073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F73B72-F685-5563-1BD9-9D427B57F9F7}"/>
              </a:ext>
            </a:extLst>
          </p:cNvPr>
          <p:cNvSpPr txBox="1"/>
          <p:nvPr/>
        </p:nvSpPr>
        <p:spPr>
          <a:xfrm>
            <a:off x="9181857" y="3019124"/>
            <a:ext cx="27606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Data Handling: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Terminates SSL (or passes through)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Routes traffic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Manages sessions (if sticky)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Logs request metadata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F054FA-724D-3EA9-0C51-1C08EDFB26C2}"/>
              </a:ext>
            </a:extLst>
          </p:cNvPr>
          <p:cNvSpPr txBox="1"/>
          <p:nvPr/>
        </p:nvSpPr>
        <p:spPr>
          <a:xfrm>
            <a:off x="9181857" y="770309"/>
            <a:ext cx="26890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Security Controls: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TLS Encryption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WAF filtering (SQLi, XSS, RCE protection)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Rate limiting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IP filtering</a:t>
            </a:r>
          </a:p>
          <a:p>
            <a:r>
              <a:rPr lang="en-US" sz="1200" dirty="0">
                <a:latin typeface="Yu Gothic" panose="020B0400000000000000" pitchFamily="34" charset="-128"/>
                <a:ea typeface="Yu Gothic" panose="020B0400000000000000" pitchFamily="34" charset="-128"/>
              </a:rPr>
              <a:t>Bot protection</a:t>
            </a:r>
          </a:p>
        </p:txBody>
      </p:sp>
      <p:sp>
        <p:nvSpPr>
          <p:cNvPr id="66" name="Right Brace 65">
            <a:extLst>
              <a:ext uri="{FF2B5EF4-FFF2-40B4-BE49-F238E27FC236}">
                <a16:creationId xmlns:a16="http://schemas.microsoft.com/office/drawing/2014/main" id="{6F9417FE-C011-20D4-3A1C-498615EBA710}"/>
              </a:ext>
            </a:extLst>
          </p:cNvPr>
          <p:cNvSpPr/>
          <p:nvPr/>
        </p:nvSpPr>
        <p:spPr>
          <a:xfrm>
            <a:off x="8871948" y="538225"/>
            <a:ext cx="278866" cy="1646326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AF9708-5FE1-26BC-23F0-822B2985C291}"/>
              </a:ext>
            </a:extLst>
          </p:cNvPr>
          <p:cNvSpPr txBox="1"/>
          <p:nvPr/>
        </p:nvSpPr>
        <p:spPr>
          <a:xfrm>
            <a:off x="6608179" y="5054234"/>
            <a:ext cx="26917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Authentication Check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Authorization Check (RBAC/ABAC)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Input Validation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Business Logic Execution</a:t>
            </a: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68" name="Graphic 67" descr="Database">
            <a:extLst>
              <a:ext uri="{FF2B5EF4-FFF2-40B4-BE49-F238E27FC236}">
                <a16:creationId xmlns:a16="http://schemas.microsoft.com/office/drawing/2014/main" id="{452F7F25-02FF-143E-8C10-A54E3A383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9473" y="6277277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BEB6E87-F633-2474-2194-D9F95C98A539}"/>
              </a:ext>
            </a:extLst>
          </p:cNvPr>
          <p:cNvCxnSpPr>
            <a:cxnSpLocks/>
            <a:stCxn id="49" idx="2"/>
            <a:endCxn id="68" idx="0"/>
          </p:cNvCxnSpPr>
          <p:nvPr/>
        </p:nvCxnSpPr>
        <p:spPr>
          <a:xfrm flipH="1">
            <a:off x="6179473" y="5282739"/>
            <a:ext cx="20548" cy="9945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79BF759-2B37-CE55-11FD-B0FDF15C8462}"/>
              </a:ext>
            </a:extLst>
          </p:cNvPr>
          <p:cNvSpPr txBox="1"/>
          <p:nvPr/>
        </p:nvSpPr>
        <p:spPr>
          <a:xfrm>
            <a:off x="6608179" y="6528861"/>
            <a:ext cx="13644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Database Server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A49245C-43A7-E219-71FD-AD849C8A77A4}"/>
              </a:ext>
            </a:extLst>
          </p:cNvPr>
          <p:cNvSpPr txBox="1"/>
          <p:nvPr/>
        </p:nvSpPr>
        <p:spPr>
          <a:xfrm>
            <a:off x="6196692" y="5987163"/>
            <a:ext cx="21900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Parameterized query/ORM call</a:t>
            </a: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6076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83CE-FE8F-BD99-8069-65378C1E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27" y="118546"/>
            <a:ext cx="11747643" cy="477355"/>
          </a:xfrm>
        </p:spPr>
        <p:txBody>
          <a:bodyPr>
            <a:noAutofit/>
          </a:bodyPr>
          <a:lstStyle/>
          <a:p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E0E0F-53C1-70E7-1953-CF67568D7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27" y="767386"/>
            <a:ext cx="5613972" cy="5972068"/>
          </a:xfrm>
        </p:spPr>
        <p:txBody>
          <a:bodyPr>
            <a:normAutofit fontScale="40000" lnSpcReduction="20000"/>
          </a:bodyPr>
          <a:lstStyle/>
          <a:p>
            <a:r>
              <a:rPr lang="en-US" sz="5000" b="1" dirty="0"/>
              <a:t>Application Tier – Business Logic Processing</a:t>
            </a:r>
          </a:p>
          <a:p>
            <a:r>
              <a:rPr lang="en-IN" dirty="0"/>
              <a:t>[ Application Server ]</a:t>
            </a:r>
          </a:p>
          <a:p>
            <a:r>
              <a:rPr lang="en-IN" dirty="0"/>
              <a:t>    |</a:t>
            </a:r>
          </a:p>
          <a:p>
            <a:r>
              <a:rPr lang="en-IN" dirty="0"/>
              <a:t>    | 1. Authentication Check</a:t>
            </a:r>
          </a:p>
          <a:p>
            <a:r>
              <a:rPr lang="en-IN" dirty="0"/>
              <a:t>    | 2. Authorization Check (RBAC/ABAC)</a:t>
            </a:r>
          </a:p>
          <a:p>
            <a:r>
              <a:rPr lang="en-IN" dirty="0"/>
              <a:t>    | 3. Input Validation</a:t>
            </a:r>
          </a:p>
          <a:p>
            <a:r>
              <a:rPr lang="en-IN" dirty="0"/>
              <a:t>    | 4. Business Logic Execution</a:t>
            </a:r>
          </a:p>
          <a:p>
            <a:r>
              <a:rPr lang="en-IN" dirty="0"/>
              <a:t>    |</a:t>
            </a:r>
          </a:p>
          <a:p>
            <a:r>
              <a:rPr lang="en-IN" dirty="0"/>
              <a:t>    v</a:t>
            </a:r>
          </a:p>
          <a:p>
            <a:r>
              <a:rPr lang="en-IN" dirty="0"/>
              <a:t>[ Data Access Layer ]</a:t>
            </a:r>
          </a:p>
          <a:p>
            <a:r>
              <a:rPr lang="en-IN" dirty="0"/>
              <a:t>    |</a:t>
            </a:r>
          </a:p>
          <a:p>
            <a:r>
              <a:rPr lang="en-IN" dirty="0"/>
              <a:t>    | Parameterized Query / ORM Call</a:t>
            </a:r>
          </a:p>
          <a:p>
            <a:r>
              <a:rPr lang="en-IN" dirty="0"/>
              <a:t>    v</a:t>
            </a:r>
          </a:p>
          <a:p>
            <a:r>
              <a:rPr lang="en-IN" dirty="0"/>
              <a:t>[ Database Server ]</a:t>
            </a:r>
          </a:p>
          <a:p>
            <a:r>
              <a:rPr lang="en-IN" b="1" dirty="0"/>
              <a:t>Internal Processes:</a:t>
            </a:r>
            <a:endParaRPr lang="en-IN" dirty="0"/>
          </a:p>
          <a:p>
            <a:r>
              <a:rPr lang="en-IN" dirty="0"/>
              <a:t>Request Object Creation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Controller Layer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Service Layer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Repository / DAO Layer</a:t>
            </a:r>
          </a:p>
          <a:p>
            <a:r>
              <a:rPr lang="en-IN" b="1" dirty="0"/>
              <a:t>Security Controls:</a:t>
            </a:r>
            <a:endParaRPr lang="en-IN" dirty="0"/>
          </a:p>
          <a:p>
            <a:pPr lvl="0"/>
            <a:r>
              <a:rPr lang="en-IN" dirty="0"/>
              <a:t>Input validation</a:t>
            </a:r>
          </a:p>
          <a:p>
            <a:pPr lvl="0"/>
            <a:r>
              <a:rPr lang="en-IN" dirty="0"/>
              <a:t>Output encoding</a:t>
            </a:r>
          </a:p>
          <a:p>
            <a:pPr lvl="0"/>
            <a:r>
              <a:rPr lang="en-IN" dirty="0"/>
              <a:t>Token verification</a:t>
            </a:r>
          </a:p>
          <a:p>
            <a:pPr lvl="0"/>
            <a:r>
              <a:rPr lang="en-IN" dirty="0"/>
              <a:t>Role validation</a:t>
            </a:r>
          </a:p>
          <a:p>
            <a:pPr lvl="0"/>
            <a:r>
              <a:rPr lang="en-IN" dirty="0"/>
              <a:t>Audit logging</a:t>
            </a:r>
          </a:p>
          <a:p>
            <a:pPr lvl="0"/>
            <a:r>
              <a:rPr lang="en-IN" dirty="0"/>
              <a:t>Exception handling</a:t>
            </a:r>
          </a:p>
          <a:p>
            <a:endParaRPr lang="en-IN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BB9AD4-ED34-3287-831E-B507156EB161}"/>
              </a:ext>
            </a:extLst>
          </p:cNvPr>
          <p:cNvSpPr txBox="1">
            <a:spLocks/>
          </p:cNvSpPr>
          <p:nvPr/>
        </p:nvSpPr>
        <p:spPr>
          <a:xfrm>
            <a:off x="5983839" y="767386"/>
            <a:ext cx="5613972" cy="5972068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5000" b="1" dirty="0"/>
              <a:t> Data Tier – Database Processing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[ Database Server ]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| Receive SQL Query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    | Validate Schema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    | Execute Query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    | Access Storage Engine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    v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[ Data Files / Tables / Indexes ]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    |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    v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[ Query Result Set ]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    |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    v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[ Application Server ]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b="1" dirty="0"/>
              <a:t>Data Operations:</a:t>
            </a:r>
            <a:endParaRPr lang="en-IN"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SELECT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INSERT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UPDATE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DELETE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Stored procedures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Triggers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IN" b="1" dirty="0"/>
              <a:t>Security Controls:</a:t>
            </a:r>
            <a:endParaRPr lang="en-IN"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Encryption at rest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Database firewall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Least privilege DB accounts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Activity monitoring</a:t>
            </a:r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en-IN" dirty="0"/>
              <a:t>Replication / Backup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63048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A1BD9-CD09-9310-5D71-C0BF5AF2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9EB1D-B29D-FDA4-5F2D-8A1A80F1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27" y="118546"/>
            <a:ext cx="11747643" cy="477355"/>
          </a:xfrm>
        </p:spPr>
        <p:txBody>
          <a:bodyPr>
            <a:noAutofit/>
          </a:bodyPr>
          <a:lstStyle/>
          <a:p>
            <a:r>
              <a:rPr lang="en-IN" sz="2800" dirty="0"/>
              <a:t>Complete End-to-End Detailed 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7109D-0069-DCF0-22F9-EBCB9FCF5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27" y="767386"/>
            <a:ext cx="5613972" cy="5972068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1. User enters URL or submits form</a:t>
            </a:r>
          </a:p>
          <a:p>
            <a:r>
              <a:rPr lang="en-IN" dirty="0"/>
              <a:t>2. Browser sends HTTPS request</a:t>
            </a:r>
          </a:p>
          <a:p>
            <a:r>
              <a:rPr lang="en-IN" dirty="0"/>
              <a:t>3. Request hits perimeter firewall</a:t>
            </a:r>
          </a:p>
          <a:p>
            <a:r>
              <a:rPr lang="en-IN" dirty="0"/>
              <a:t>4. WAF inspects for malicious payload</a:t>
            </a:r>
          </a:p>
          <a:p>
            <a:r>
              <a:rPr lang="en-IN" dirty="0"/>
              <a:t>5. Load balancer selects healthy web node</a:t>
            </a:r>
          </a:p>
          <a:p>
            <a:r>
              <a:rPr lang="en-IN" dirty="0"/>
              <a:t>6. Web server receives request</a:t>
            </a:r>
          </a:p>
          <a:p>
            <a:r>
              <a:rPr lang="en-IN" dirty="0"/>
              <a:t>7. Web server forwards to application server</a:t>
            </a:r>
          </a:p>
          <a:p>
            <a:r>
              <a:rPr lang="en-IN" dirty="0"/>
              <a:t>8. Application server:</a:t>
            </a:r>
          </a:p>
          <a:p>
            <a:r>
              <a:rPr lang="en-IN" dirty="0"/>
              <a:t>      - Authenticates user</a:t>
            </a:r>
          </a:p>
          <a:p>
            <a:r>
              <a:rPr lang="en-IN" dirty="0"/>
              <a:t>      - Validates session/token</a:t>
            </a:r>
          </a:p>
          <a:p>
            <a:r>
              <a:rPr lang="en-IN" dirty="0"/>
              <a:t>      - Checks authorization</a:t>
            </a:r>
          </a:p>
          <a:p>
            <a:r>
              <a:rPr lang="en-IN" dirty="0"/>
              <a:t>      - Validates input</a:t>
            </a:r>
          </a:p>
          <a:p>
            <a:r>
              <a:rPr lang="en-IN" dirty="0"/>
              <a:t>9. Business logic executes</a:t>
            </a:r>
          </a:p>
          <a:p>
            <a:r>
              <a:rPr lang="en-IN" dirty="0"/>
              <a:t>10. Application prepares SQL query</a:t>
            </a:r>
          </a:p>
          <a:p>
            <a:r>
              <a:rPr lang="en-IN" dirty="0"/>
              <a:t>11. Query sent over secure internal network</a:t>
            </a:r>
          </a:p>
          <a:p>
            <a:r>
              <a:rPr lang="en-IN" dirty="0"/>
              <a:t>12. Database executes query</a:t>
            </a:r>
          </a:p>
          <a:p>
            <a:r>
              <a:rPr lang="en-IN" dirty="0"/>
              <a:t>13. Result returned to application</a:t>
            </a:r>
          </a:p>
          <a:p>
            <a:r>
              <a:rPr lang="en-IN" dirty="0"/>
              <a:t>14. Application processes and formats output</a:t>
            </a:r>
          </a:p>
          <a:p>
            <a:r>
              <a:rPr lang="en-IN" dirty="0"/>
              <a:t>15. Response returned to web server</a:t>
            </a:r>
          </a:p>
          <a:p>
            <a:r>
              <a:rPr lang="en-IN" dirty="0"/>
              <a:t>16. Web server sends HTTPS response</a:t>
            </a:r>
          </a:p>
          <a:p>
            <a:r>
              <a:rPr lang="en-IN" dirty="0"/>
              <a:t>17. Browser renders content</a:t>
            </a:r>
          </a:p>
          <a:p>
            <a:endParaRPr lang="en-IN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6914CD-4F60-ABA1-B407-4F0843021CA6}"/>
              </a:ext>
            </a:extLst>
          </p:cNvPr>
          <p:cNvSpPr txBox="1">
            <a:spLocks/>
          </p:cNvSpPr>
          <p:nvPr/>
        </p:nvSpPr>
        <p:spPr>
          <a:xfrm>
            <a:off x="5983839" y="767386"/>
            <a:ext cx="5613972" cy="597206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✅ Logging &amp; Monitoring Flow</a:t>
            </a: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Web Server Logs  ---&gt;  SIEM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Application Logs ---&gt;  Log Aggregator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DB Logs          ---&gt;  Monitoring System</a:t>
            </a:r>
          </a:p>
          <a:p>
            <a:r>
              <a:rPr lang="en-IN" sz="11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✅ Caching Layer (Optional but common)</a:t>
            </a: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[ Application Server ] </a:t>
            </a: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</a:t>
            </a: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[ Cache (Redis / Memcached) ] </a:t>
            </a: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  <a:sym typeface="Wingdings" panose="05000000000000000000" pitchFamily="2" charset="2"/>
              </a:rPr>
              <a:t> </a:t>
            </a:r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[ Database ]</a:t>
            </a:r>
          </a:p>
          <a:p>
            <a:r>
              <a:rPr lang="en-IN" sz="1100" dirty="0">
                <a:latin typeface="Yu Gothic" panose="020B0400000000000000" pitchFamily="34" charset="-128"/>
                <a:ea typeface="Yu Gothic" panose="020B0400000000000000" pitchFamily="34" charset="-128"/>
              </a:rPr>
              <a:t>Flow:</a:t>
            </a:r>
          </a:p>
          <a:p>
            <a:pPr lvl="1"/>
            <a:r>
              <a:rPr lang="en-IN" sz="700" dirty="0">
                <a:latin typeface="Yu Gothic" panose="020B0400000000000000" pitchFamily="34" charset="-128"/>
                <a:ea typeface="Yu Gothic" panose="020B0400000000000000" pitchFamily="34" charset="-128"/>
              </a:rPr>
              <a:t>Check cache</a:t>
            </a:r>
          </a:p>
          <a:p>
            <a:pPr lvl="1"/>
            <a:r>
              <a:rPr lang="en-IN" sz="700" dirty="0">
                <a:latin typeface="Yu Gothic" panose="020B0400000000000000" pitchFamily="34" charset="-128"/>
                <a:ea typeface="Yu Gothic" panose="020B0400000000000000" pitchFamily="34" charset="-128"/>
              </a:rPr>
              <a:t>If hit → return data</a:t>
            </a:r>
          </a:p>
          <a:p>
            <a:pPr lvl="1"/>
            <a:r>
              <a:rPr lang="en-IN" sz="700" dirty="0">
                <a:latin typeface="Yu Gothic" panose="020B0400000000000000" pitchFamily="34" charset="-128"/>
                <a:ea typeface="Yu Gothic" panose="020B0400000000000000" pitchFamily="34" charset="-128"/>
              </a:rPr>
              <a:t>If miss → query DB → update cache</a:t>
            </a:r>
          </a:p>
          <a:p>
            <a:pPr lvl="0"/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IN" sz="2000" b="1" dirty="0">
                <a:latin typeface="Yu Gothic" panose="020B0400000000000000" pitchFamily="34" charset="-128"/>
                <a:ea typeface="Yu Gothic" panose="020B0400000000000000" pitchFamily="34" charset="-128"/>
              </a:rPr>
              <a:t>✅ High Availability (HA Version)</a:t>
            </a:r>
            <a:endParaRPr lang="en-IN" sz="20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+----------------------+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|   Load Balancer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+----------+-----------+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+------------------+------------------+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|          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[ Web/App Server 1 ]                 [ Web/App Server 2 ]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|          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+------------------+------------------+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[ Primary Database ]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        |</a:t>
            </a:r>
          </a:p>
          <a:p>
            <a:r>
              <a:rPr lang="en-IN" sz="2000" dirty="0">
                <a:latin typeface="Yu Gothic" panose="020B0400000000000000" pitchFamily="34" charset="-128"/>
                <a:ea typeface="Yu Gothic" panose="020B0400000000000000" pitchFamily="34" charset="-128"/>
              </a:rPr>
              <a:t>                   [ Replica Database ]</a:t>
            </a:r>
          </a:p>
          <a:p>
            <a:pPr lvl="0"/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100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4238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719C9-0645-E7FB-7EB6-EFB25E3B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423A-1EFB-919C-3CBE-78E15C7D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27" y="118546"/>
            <a:ext cx="11747643" cy="477355"/>
          </a:xfrm>
        </p:spPr>
        <p:txBody>
          <a:bodyPr>
            <a:noAutofit/>
          </a:bodyPr>
          <a:lstStyle/>
          <a:p>
            <a:r>
              <a:rPr lang="en-IN" sz="2800" dirty="0"/>
              <a:t>Complete End-to-End Detailed 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78FC6-A8E2-4210-73C2-D6E17BADF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27" y="767386"/>
            <a:ext cx="5613972" cy="835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Data Flow Classification (Security View)</a:t>
            </a:r>
            <a:endParaRPr lang="en-IN" sz="1100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795961-6E78-E93C-538E-3958A473E7BC}"/>
              </a:ext>
            </a:extLst>
          </p:cNvPr>
          <p:cNvSpPr txBox="1">
            <a:spLocks/>
          </p:cNvSpPr>
          <p:nvPr/>
        </p:nvSpPr>
        <p:spPr>
          <a:xfrm>
            <a:off x="5983839" y="357223"/>
            <a:ext cx="5613972" cy="2046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1" dirty="0"/>
              <a:t>📌 Final Enterprise Data Flow Summary</a:t>
            </a:r>
            <a:endParaRPr lang="en-IN" sz="1200" dirty="0"/>
          </a:p>
          <a:p>
            <a:r>
              <a:rPr lang="en-IN" sz="1200" dirty="0"/>
              <a:t>User → WAF → Load Balancer → Web Server → Application Server → Database</a:t>
            </a:r>
          </a:p>
          <a:p>
            <a:r>
              <a:rPr lang="en-IN" sz="1200" dirty="0"/>
              <a:t>                                                        ↑</a:t>
            </a:r>
          </a:p>
          <a:p>
            <a:r>
              <a:rPr lang="en-IN" sz="1200" dirty="0"/>
              <a:t>                                            Logging / Monitoring</a:t>
            </a:r>
          </a:p>
          <a:p>
            <a:r>
              <a:rPr lang="en-IN" sz="1200" dirty="0"/>
              <a:t>                                                        ↑</a:t>
            </a:r>
          </a:p>
          <a:p>
            <a:r>
              <a:rPr lang="en-IN" sz="1200" dirty="0"/>
              <a:t>                                                  Security Controls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9AC1C8-5061-02F6-1715-BFE97C169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134755"/>
              </p:ext>
            </p:extLst>
          </p:nvPr>
        </p:nvGraphicFramePr>
        <p:xfrm>
          <a:off x="594189" y="1335151"/>
          <a:ext cx="4750942" cy="1280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0129">
                  <a:extLst>
                    <a:ext uri="{9D8B030D-6E8A-4147-A177-3AD203B41FA5}">
                      <a16:colId xmlns:a16="http://schemas.microsoft.com/office/drawing/2014/main" val="2710564923"/>
                    </a:ext>
                  </a:extLst>
                </a:gridCol>
                <a:gridCol w="1694897">
                  <a:extLst>
                    <a:ext uri="{9D8B030D-6E8A-4147-A177-3AD203B41FA5}">
                      <a16:colId xmlns:a16="http://schemas.microsoft.com/office/drawing/2014/main" val="2246001218"/>
                    </a:ext>
                  </a:extLst>
                </a:gridCol>
                <a:gridCol w="1355916">
                  <a:extLst>
                    <a:ext uri="{9D8B030D-6E8A-4147-A177-3AD203B41FA5}">
                      <a16:colId xmlns:a16="http://schemas.microsoft.com/office/drawing/2014/main" val="2517724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Data Type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Flow Path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Risk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9027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Credentials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Browser → App</a:t>
                      </a:r>
                      <a:endParaRPr lang="en-IN" sz="1200" kern="100" dirty="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Credential theft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70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Session Cookie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Browser ↔ Web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Session hijacking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8551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Business Data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App ↔ DB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SQL injection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2962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Logs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App → SIEM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Log tampering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5338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Secrets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App Config</a:t>
                      </a:r>
                      <a:endParaRPr lang="en-IN" sz="12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kern="100" dirty="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Secret leakage</a:t>
                      </a:r>
                      <a:endParaRPr lang="en-IN" sz="1200" kern="100" dirty="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9164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0BADD-5793-5D5B-3BC4-CA4A65466571}"/>
              </a:ext>
            </a:extLst>
          </p:cNvPr>
          <p:cNvSpPr txBox="1"/>
          <p:nvPr/>
        </p:nvSpPr>
        <p:spPr>
          <a:xfrm>
            <a:off x="594189" y="3195263"/>
            <a:ext cx="3618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🔹 Where Attacks Typically Happen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9F2356-605C-398B-AEFC-232B65139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587839"/>
              </p:ext>
            </p:extLst>
          </p:nvPr>
        </p:nvGraphicFramePr>
        <p:xfrm>
          <a:off x="930667" y="4006432"/>
          <a:ext cx="3836541" cy="170688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532372">
                  <a:extLst>
                    <a:ext uri="{9D8B030D-6E8A-4147-A177-3AD203B41FA5}">
                      <a16:colId xmlns:a16="http://schemas.microsoft.com/office/drawing/2014/main" val="3614372456"/>
                    </a:ext>
                  </a:extLst>
                </a:gridCol>
                <a:gridCol w="2304169">
                  <a:extLst>
                    <a:ext uri="{9D8B030D-6E8A-4147-A177-3AD203B41FA5}">
                      <a16:colId xmlns:a16="http://schemas.microsoft.com/office/drawing/2014/main" val="4074471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Layer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Common Attacks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3535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Browser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XSS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7400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Web Server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Request smuggling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0979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App Server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 dirty="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RCE, deserialization</a:t>
                      </a:r>
                      <a:endParaRPr lang="en-IN" sz="1600" kern="100" dirty="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8119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Database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SQL injection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4879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Network</a:t>
                      </a:r>
                      <a:endParaRPr lang="en-IN" sz="1600" kern="10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kern="100" dirty="0">
                          <a:effectLst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MITM (if misconfigured)</a:t>
                      </a:r>
                      <a:endParaRPr lang="en-IN" sz="1600" kern="100" dirty="0">
                        <a:effectLst/>
                        <a:latin typeface="Yu Gothic" panose="020B0400000000000000" pitchFamily="34" charset="-128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2695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822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AD1FF-C93D-F3C3-4872-A01623AA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405F-E6D0-C7EE-291B-4D8B86A8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Single Page Application (SPA)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21440-2E98-1B47-FD95-2853E5648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11757916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User Browser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SPA Frontend (React/Angular/Vue)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REST / GraphQL API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Backend Services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Database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JSON Response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Dynamic UI Update ]</a:t>
            </a:r>
          </a:p>
        </p:txBody>
      </p:sp>
    </p:spTree>
    <p:extLst>
      <p:ext uri="{BB962C8B-B14F-4D97-AF65-F5344CB8AC3E}">
        <p14:creationId xmlns:p14="http://schemas.microsoft.com/office/powerpoint/2010/main" val="82206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D37B7-7004-1AF0-5209-148FA238A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1678A-1EC4-B4E5-07FD-3879020C3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Microservices Architecture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CCEA6-D2D7-387C-1739-D76E48A07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Client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API Gateway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+----------------------+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          |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          </a:t>
            </a:r>
            <a:r>
              <a:rPr lang="en-IN" sz="1400" dirty="0" err="1"/>
              <a:t>v</a:t>
            </a:r>
            <a:r>
              <a:rPr lang="en-IN" sz="1400" dirty="0"/>
              <a:t>           </a:t>
            </a:r>
            <a:r>
              <a:rPr lang="en-IN" sz="1400" dirty="0" err="1"/>
              <a:t>v</a:t>
            </a:r>
            <a:endParaRPr lang="en-IN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Service A ] [ Service B ] [ Service C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              |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              </a:t>
            </a:r>
            <a:r>
              <a:rPr lang="en-IN" sz="1400" dirty="0" err="1"/>
              <a:t>v</a:t>
            </a:r>
            <a:r>
              <a:rPr lang="en-IN" sz="1400" dirty="0"/>
              <a:t>              </a:t>
            </a:r>
            <a:r>
              <a:rPr lang="en-IN" sz="1400" dirty="0" err="1"/>
              <a:t>v</a:t>
            </a:r>
            <a:endParaRPr lang="en-IN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[ DB A ]        [ DB B ]       [ DB C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+------------------------------+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[ Aggregated Response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[ Client ]</a:t>
            </a:r>
          </a:p>
        </p:txBody>
      </p:sp>
    </p:spTree>
    <p:extLst>
      <p:ext uri="{BB962C8B-B14F-4D97-AF65-F5344CB8AC3E}">
        <p14:creationId xmlns:p14="http://schemas.microsoft.com/office/powerpoint/2010/main" val="1889682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9F2FD-1F34-4C07-61C0-44696395E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7C74-8201-8EC2-BA73-154E2C89D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Serverless Web Application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86C33-BEB0-23B1-9178-F22425EC2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User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CDN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Static Frontend Hosting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API Gateway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Serverless Function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Cloud Database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Response to User ]</a:t>
            </a:r>
          </a:p>
        </p:txBody>
      </p:sp>
    </p:spTree>
    <p:extLst>
      <p:ext uri="{BB962C8B-B14F-4D97-AF65-F5344CB8AC3E}">
        <p14:creationId xmlns:p14="http://schemas.microsoft.com/office/powerpoint/2010/main" val="4167679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23AAD-38C8-454C-EAE7-367510386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8188F-DD5A-AB4A-206F-20AC49AF2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Monolithic Application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A2D85-6694-5ADE-3525-E85078CAD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Client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Monolithic Application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(UI + Logic + Data Access)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Database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Response ]</a:t>
            </a:r>
          </a:p>
        </p:txBody>
      </p:sp>
    </p:spTree>
    <p:extLst>
      <p:ext uri="{BB962C8B-B14F-4D97-AF65-F5344CB8AC3E}">
        <p14:creationId xmlns:p14="http://schemas.microsoft.com/office/powerpoint/2010/main" val="424153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BD03D-83F6-B03A-98AD-0C9E48717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1FC64-694C-90C8-A130-91113048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Event-Driven Web Application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EE44D-DA61-B9A4-6291-CF1D73F11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User Action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Web Application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Event / Message Queue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+------------------------+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|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v                        </a:t>
            </a:r>
            <a:r>
              <a:rPr lang="en-IN" sz="1400" dirty="0" err="1"/>
              <a:t>v</a:t>
            </a:r>
            <a:endParaRPr lang="en-IN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Consumer Service A ]   [ Consumer Service B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|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v                        </a:t>
            </a:r>
            <a:r>
              <a:rPr lang="en-IN" sz="1400" dirty="0" err="1"/>
              <a:t>v</a:t>
            </a:r>
            <a:endParaRPr lang="en-IN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[ Database ]            [ Notification Service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    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       [ WebSocket Update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    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                      [ User ]</a:t>
            </a:r>
          </a:p>
        </p:txBody>
      </p:sp>
    </p:spTree>
    <p:extLst>
      <p:ext uri="{BB962C8B-B14F-4D97-AF65-F5344CB8AC3E}">
        <p14:creationId xmlns:p14="http://schemas.microsoft.com/office/powerpoint/2010/main" val="1879998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E657F-522F-3628-433D-FA262D737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311C1-6885-2ACA-2E53-BFCAA34E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DevSecOps CI/CD Workflow (Enterprise)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32242-30A4-C189-E287-39A899A93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Developer Commit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Source Control (Git)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CI Pipeline Triggered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+--&gt; SAST Scan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+--&gt; Dependency Scan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Build &amp; Containerization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+--&gt; Container Security Scan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Deploy to Staging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+--&gt; DAST / Integration Tests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Production Deployment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Continuous Monitoring ]</a:t>
            </a:r>
          </a:p>
        </p:txBody>
      </p:sp>
    </p:spTree>
    <p:extLst>
      <p:ext uri="{BB962C8B-B14F-4D97-AF65-F5344CB8AC3E}">
        <p14:creationId xmlns:p14="http://schemas.microsoft.com/office/powerpoint/2010/main" val="4104839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8018A-0CFD-116E-09E9-9871FEA6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CE8A-EBBA-71CC-BB92-4BCA15BE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Multi-Region Global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0A8BE-9F5F-F4AE-91C2-0E7E8D86C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User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Global DNS (Geo Routing)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+------------------------------+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      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                              </a:t>
            </a:r>
            <a:r>
              <a:rPr lang="en-IN" sz="1400" dirty="0" err="1"/>
              <a:t>v</a:t>
            </a:r>
            <a:endParaRPr lang="en-IN" sz="14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Region A ]                  [ Region B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      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Load Balancer ]            [ Load Balancer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      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App Cluster ]              [ App Cluster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                      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Regional DB ] &lt;----Replication----&gt; [ Regional DB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Response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876651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6B45-42E8-1241-88F4-9E5C562B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3FE0F-A403-B80B-7CBF-4BFD3E0FE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B2B Enterprise API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68D66-3083-0AC3-9A90-EC75B22C3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Partner System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Secure API Endpoint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+--&gt; </a:t>
            </a:r>
            <a:r>
              <a:rPr lang="en-IN" sz="1400" dirty="0" err="1"/>
              <a:t>mTLS</a:t>
            </a:r>
            <a:r>
              <a:rPr lang="en-IN" sz="1400" dirty="0"/>
              <a:t> / OAuth Validation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+--&gt; Rate Limiting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+--&gt; Policy Enforcement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Backend Processing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Audit Logging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Response to Partner ]</a:t>
            </a:r>
          </a:p>
        </p:txBody>
      </p:sp>
    </p:spTree>
    <p:extLst>
      <p:ext uri="{BB962C8B-B14F-4D97-AF65-F5344CB8AC3E}">
        <p14:creationId xmlns:p14="http://schemas.microsoft.com/office/powerpoint/2010/main" val="1058809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E5B1F-44DB-785A-97EB-E3679112B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D4D73-87F1-8B52-5532-1E52E121F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Zero Trust Web Application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C532B-0B1F-72BA-9D83-592F20D5C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User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Identity Provider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+--&gt; MFA Verification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+--&gt; Device Compliance Check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+--&gt; Conditional Access Policy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Policy Decision Point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Micro-Segmented Application Access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Continuous Monitoring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59680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41C74-71B9-D04D-45E8-D7AA2A793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20AB-206E-A3EB-DE62-06074359E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Hybrid Cloud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B6E20-A852-B845-98AE-17B41070B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User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Cloud Frontend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Secure Tunnel (VPN / Private Link)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On-Prem Application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On-Prem Database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Response to User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517184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F72B-F280-3075-FA93-2A5E9A7F9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F374-6F43-D808-AADA-A777F1A4C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475" y="180191"/>
            <a:ext cx="11757917" cy="600645"/>
          </a:xfrm>
        </p:spPr>
        <p:txBody>
          <a:bodyPr>
            <a:noAutofit/>
          </a:bodyPr>
          <a:lstStyle/>
          <a:p>
            <a:r>
              <a:rPr lang="en-US" sz="3200" dirty="0"/>
              <a:t>Data-Intensive Analytics Workflow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6835D-6A23-3F96-CE08-5A6E69B5C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475" y="993417"/>
            <a:ext cx="4925604" cy="568439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User Dashboard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API Layer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Data Warehouse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Aggregation Engine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Caching Layer ]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|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        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400" dirty="0"/>
              <a:t>[ Visualization Response ]</a:t>
            </a:r>
          </a:p>
        </p:txBody>
      </p:sp>
    </p:spTree>
    <p:extLst>
      <p:ext uri="{BB962C8B-B14F-4D97-AF65-F5344CB8AC3E}">
        <p14:creationId xmlns:p14="http://schemas.microsoft.com/office/powerpoint/2010/main" val="42315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1662</Words>
  <Application>Microsoft Office PowerPoint</Application>
  <PresentationFormat>Widescreen</PresentationFormat>
  <Paragraphs>465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Yu Gothic</vt:lpstr>
      <vt:lpstr>Arial</vt:lpstr>
      <vt:lpstr>Calibri</vt:lpstr>
      <vt:lpstr>Calibri Light</vt:lpstr>
      <vt:lpstr>Wingdings</vt:lpstr>
      <vt:lpstr>Office Theme</vt:lpstr>
      <vt:lpstr>Security Operations Center</vt:lpstr>
      <vt:lpstr>Types of enterprise webapp workflows</vt:lpstr>
      <vt:lpstr>Traditional 3-Tier Architecture (Multi-Tier)</vt:lpstr>
      <vt:lpstr>Logs Generated at Each Layer</vt:lpstr>
      <vt:lpstr>Data flow</vt:lpstr>
      <vt:lpstr>PowerPoint Presentation</vt:lpstr>
      <vt:lpstr>Complete End-to-End Detailed Flow </vt:lpstr>
      <vt:lpstr>Complete End-to-End Detailed Flow </vt:lpstr>
      <vt:lpstr>Single Page Application (SPA) Workflow</vt:lpstr>
      <vt:lpstr>Microservices Architecture Workflow</vt:lpstr>
      <vt:lpstr>Serverless Web Application Workflow</vt:lpstr>
      <vt:lpstr>Monolithic Application Workflow</vt:lpstr>
      <vt:lpstr>Event-Driven Web Application Workflow</vt:lpstr>
      <vt:lpstr>DevSecOps CI/CD Workflow (Enterprise)</vt:lpstr>
      <vt:lpstr>Multi-Region Global Workflow</vt:lpstr>
      <vt:lpstr>B2B Enterprise API Workflow</vt:lpstr>
      <vt:lpstr>Zero Trust Web Application Workflow</vt:lpstr>
      <vt:lpstr>Hybrid Cloud Workflow</vt:lpstr>
      <vt:lpstr>Data-Intensive Analytics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j0352</dc:creator>
  <cp:lastModifiedBy>sandeep j0352</cp:lastModifiedBy>
  <cp:revision>72</cp:revision>
  <dcterms:created xsi:type="dcterms:W3CDTF">2026-03-03T15:45:56Z</dcterms:created>
  <dcterms:modified xsi:type="dcterms:W3CDTF">2026-05-02T13:14:41Z</dcterms:modified>
</cp:coreProperties>
</file>